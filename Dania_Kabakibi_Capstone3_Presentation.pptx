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70" r:id="rId4"/>
    <p:sldId id="264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5" r:id="rId13"/>
    <p:sldId id="271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F22"/>
    <a:srgbClr val="E0E2E2"/>
    <a:srgbClr val="D7960F"/>
    <a:srgbClr val="FFB903"/>
    <a:srgbClr val="EFC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22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45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22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4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75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23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58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13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73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99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06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69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47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06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66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46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30A802-A445-463A-8F8D-0439E22344B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DF87A2-F648-4BB2-8203-151B5B040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2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links/KZGTMeMkid?ctid=bbce5c37-f181-4d0c-9310-7f877336e1cf&amp;pbi_source=linkShare&amp;bookmarkGuid=b5812f79-82c2-4982-9c61-8096d2352d79" TargetMode="External"/><Relationship Id="rId2" Type="http://schemas.openxmlformats.org/officeDocument/2006/relationships/hyperlink" Target="https://github.com/dania-kabakibi/Capstone_3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F4471B84-36EB-EAA5-23B9-36FDAA7254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000"/>
            </a:avLst>
          </a:prstGeom>
          <a:solidFill>
            <a:srgbClr val="D796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FC53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FB202-72F7-EA66-2DCF-11712FF457CB}"/>
              </a:ext>
            </a:extLst>
          </p:cNvPr>
          <p:cNvSpPr txBox="1"/>
          <p:nvPr/>
        </p:nvSpPr>
        <p:spPr>
          <a:xfrm>
            <a:off x="7742828" y="765969"/>
            <a:ext cx="39872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solidFill>
                  <a:srgbClr val="FFB903"/>
                </a:solidFill>
                <a:latin typeface="Arial Black" panose="020B0A04020102020204" pitchFamily="34" charset="0"/>
              </a:rPr>
              <a:t>Capstone 3</a:t>
            </a:r>
          </a:p>
          <a:p>
            <a:pPr algn="ctr"/>
            <a:r>
              <a:rPr lang="en-US" sz="3200" b="1" dirty="0"/>
              <a:t>Analysis with</a:t>
            </a:r>
          </a:p>
          <a:p>
            <a:pPr algn="ctr"/>
            <a:r>
              <a:rPr lang="en-US" sz="3200" b="1" dirty="0">
                <a:solidFill>
                  <a:srgbClr val="FFB903"/>
                </a:solidFill>
              </a:rPr>
              <a:t>Power BI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C827F-6179-7161-C5EA-7ACC6A60767F}"/>
              </a:ext>
            </a:extLst>
          </p:cNvPr>
          <p:cNvSpPr txBox="1"/>
          <p:nvPr/>
        </p:nvSpPr>
        <p:spPr>
          <a:xfrm>
            <a:off x="8764623" y="5322751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Dania Kabakibi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FA8AD-3065-4FD1-188E-EF17364FE4E8}"/>
              </a:ext>
            </a:extLst>
          </p:cNvPr>
          <p:cNvSpPr txBox="1"/>
          <p:nvPr/>
        </p:nvSpPr>
        <p:spPr>
          <a:xfrm>
            <a:off x="9058946" y="5781829"/>
            <a:ext cx="1588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7960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6/26/2026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65851B-BE3A-7D3B-24B9-6B2B4A2B4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80"/>
          <a:stretch>
            <a:fillRect/>
          </a:stretch>
        </p:blipFill>
        <p:spPr>
          <a:xfrm>
            <a:off x="9160546" y="3141533"/>
            <a:ext cx="1383030" cy="168712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3FFE3D-D965-C060-9DF0-9087BFBF8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6" y="725823"/>
            <a:ext cx="4657561" cy="2642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4BB15D-F06C-609C-DEB2-E5A1A74BD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29" y="1932831"/>
            <a:ext cx="4655373" cy="2641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39D03B-28AE-2B47-DEAD-529A9F3A1F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175" y="3214664"/>
            <a:ext cx="4663440" cy="2645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5D426B-B8F0-CCEA-1D0B-F348934410FC}"/>
              </a:ext>
            </a:extLst>
          </p:cNvPr>
          <p:cNvCxnSpPr/>
          <p:nvPr/>
        </p:nvCxnSpPr>
        <p:spPr>
          <a:xfrm>
            <a:off x="7357110" y="675023"/>
            <a:ext cx="0" cy="5388439"/>
          </a:xfrm>
          <a:prstGeom prst="line">
            <a:avLst/>
          </a:prstGeom>
          <a:ln w="28575">
            <a:solidFill>
              <a:srgbClr val="D796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058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AB15F8-79EE-15AF-111B-2F37820A51C0}"/>
              </a:ext>
            </a:extLst>
          </p:cNvPr>
          <p:cNvSpPr txBox="1"/>
          <p:nvPr/>
        </p:nvSpPr>
        <p:spPr>
          <a:xfrm>
            <a:off x="1528286" y="948750"/>
            <a:ext cx="456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B8F22"/>
                </a:solidFill>
                <a:latin typeface="Bahnschrift SemiBold" panose="020B0502040204020203" pitchFamily="34" charset="0"/>
              </a:rPr>
              <a:t>Project Overview: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25011-29F7-2001-63C5-E17B3A649441}"/>
              </a:ext>
            </a:extLst>
          </p:cNvPr>
          <p:cNvSpPr txBox="1"/>
          <p:nvPr/>
        </p:nvSpPr>
        <p:spPr>
          <a:xfrm>
            <a:off x="1528286" y="1819543"/>
            <a:ext cx="9135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I was assigned to perform a sales analysis for </a:t>
            </a:r>
            <a:r>
              <a:rPr lang="en-US" sz="2800" dirty="0" err="1"/>
              <a:t>EmporiUm</a:t>
            </a:r>
            <a:r>
              <a:rPr lang="en-US" sz="2800" dirty="0"/>
              <a:t>, a student bookstore chain that also sells tech products, art supplies, and other products in the state of Colorado.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AF8D6-0431-C89B-D02B-DDDCCA2C7798}"/>
              </a:ext>
            </a:extLst>
          </p:cNvPr>
          <p:cNvSpPr txBox="1"/>
          <p:nvPr/>
        </p:nvSpPr>
        <p:spPr>
          <a:xfrm>
            <a:off x="1528286" y="3653462"/>
            <a:ext cx="91354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The goal was to analyze revenue performance, identify top-performing categories and products, and provide insights that could support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667459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DB3753-872C-16BE-6C27-78700B2D44BA}"/>
              </a:ext>
            </a:extLst>
          </p:cNvPr>
          <p:cNvSpPr txBox="1"/>
          <p:nvPr/>
        </p:nvSpPr>
        <p:spPr>
          <a:xfrm>
            <a:off x="1651000" y="863600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B8F22"/>
                </a:solidFill>
                <a:latin typeface="Bahnschrift SemiBold" panose="020B0502040204020203" pitchFamily="34" charset="0"/>
              </a:rPr>
              <a:t>Workflow: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1D4C0-D2C5-8F96-C136-E82C513FCBFC}"/>
              </a:ext>
            </a:extLst>
          </p:cNvPr>
          <p:cNvSpPr txBox="1"/>
          <p:nvPr/>
        </p:nvSpPr>
        <p:spPr>
          <a:xfrm>
            <a:off x="1993900" y="1676400"/>
            <a:ext cx="7950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Data cleaning using Power query editor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Building the Data Model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Building Report Visuals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pitchFamily="34" charset="0"/>
              </a:rPr>
              <a:t>Publishing the Report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493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87F4B8-194D-BEFB-A78E-E32005B8B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61"/>
            <a:ext cx="12191999" cy="69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410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D1B50-D846-DF1A-3B1B-BBC952140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61"/>
            <a:ext cx="12192000" cy="69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69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26A16D-F030-8CED-BCC9-0CE041A7B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6" y="0"/>
            <a:ext cx="12139547" cy="688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26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5666-4D9B-C88B-3F88-75B1386A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365124"/>
            <a:ext cx="7860030" cy="766445"/>
          </a:xfrm>
        </p:spPr>
        <p:txBody>
          <a:bodyPr/>
          <a:lstStyle/>
          <a:p>
            <a:r>
              <a:rPr lang="en-US" sz="3200" dirty="0">
                <a:solidFill>
                  <a:srgbClr val="D7960F"/>
                </a:solidFill>
                <a:latin typeface="Bahnschrift SemiBold" panose="020B0502040204020203" pitchFamily="34" charset="0"/>
                <a:ea typeface="+mn-ea"/>
                <a:cs typeface="+mn-cs"/>
              </a:rPr>
              <a:t>1- Data cleaning using Power query editor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24F49-20F7-91CE-2AD6-D238E79CC9D3}"/>
              </a:ext>
            </a:extLst>
          </p:cNvPr>
          <p:cNvSpPr txBox="1"/>
          <p:nvPr/>
        </p:nvSpPr>
        <p:spPr>
          <a:xfrm>
            <a:off x="10073640" y="565467"/>
            <a:ext cx="14058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 list.txt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F4B125-D59A-2BC5-9BE8-8EE84EC90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657350"/>
            <a:ext cx="4047103" cy="44462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FA95BE-ED06-5E77-6038-FAC0A4F61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57"/>
          <a:stretch>
            <a:fillRect/>
          </a:stretch>
        </p:blipFill>
        <p:spPr>
          <a:xfrm>
            <a:off x="5120612" y="1657350"/>
            <a:ext cx="2216084" cy="4446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9C6CB7-E867-76E3-D899-5ACBC5D98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998"/>
          <a:stretch>
            <a:fillRect/>
          </a:stretch>
        </p:blipFill>
        <p:spPr>
          <a:xfrm>
            <a:off x="7880316" y="1657350"/>
            <a:ext cx="3904552" cy="4446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B6ACEBA-9562-4344-D0FD-BDB05E564666}"/>
              </a:ext>
            </a:extLst>
          </p:cNvPr>
          <p:cNvSpPr/>
          <p:nvPr/>
        </p:nvSpPr>
        <p:spPr>
          <a:xfrm>
            <a:off x="4285378" y="2374582"/>
            <a:ext cx="999075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B903"/>
          </a:solidFill>
          <a:ln>
            <a:solidFill>
              <a:srgbClr val="D796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E1CFF3C-73E0-6337-D146-2CDAB51902E5}"/>
              </a:ext>
            </a:extLst>
          </p:cNvPr>
          <p:cNvSpPr/>
          <p:nvPr/>
        </p:nvSpPr>
        <p:spPr>
          <a:xfrm>
            <a:off x="6915830" y="2374582"/>
            <a:ext cx="999075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B903"/>
          </a:solidFill>
          <a:ln>
            <a:solidFill>
              <a:srgbClr val="D796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46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D4AF4A-9252-18F9-11F1-15300623A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" y="881943"/>
            <a:ext cx="4015740" cy="2723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E7D94D-5239-BCB1-D7F3-94A9A83D1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0" y="880875"/>
            <a:ext cx="4550892" cy="27345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AB65D8-F754-E19E-A21C-A528682072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688" y="891435"/>
            <a:ext cx="1424311" cy="2723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EC5060-8DA9-65E9-0527-816597B91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" y="3751740"/>
            <a:ext cx="3661410" cy="27334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8B64E2-6C99-57D6-316A-239B6CD1CB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687" y="3773426"/>
            <a:ext cx="1424311" cy="27129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59346E-B941-D320-E046-78977DEE02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49" y="3790214"/>
            <a:ext cx="3661410" cy="2714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1DE42B2-9919-498D-B168-C3A2D48EFAE1}"/>
              </a:ext>
            </a:extLst>
          </p:cNvPr>
          <p:cNvSpPr txBox="1"/>
          <p:nvPr/>
        </p:nvSpPr>
        <p:spPr>
          <a:xfrm>
            <a:off x="8522970" y="333970"/>
            <a:ext cx="343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Capstone3_Sample_Sales.xlsx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A32FE-CBEA-91B0-F8AD-6D741B9246D3}"/>
              </a:ext>
            </a:extLst>
          </p:cNvPr>
          <p:cNvSpPr txBox="1"/>
          <p:nvPr/>
        </p:nvSpPr>
        <p:spPr>
          <a:xfrm>
            <a:off x="1243330" y="333970"/>
            <a:ext cx="270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Sales, Online Sales</a:t>
            </a:r>
          </a:p>
        </p:txBody>
      </p:sp>
    </p:spTree>
    <p:extLst>
      <p:ext uri="{BB962C8B-B14F-4D97-AF65-F5344CB8AC3E}">
        <p14:creationId xmlns:p14="http://schemas.microsoft.com/office/powerpoint/2010/main" val="3130248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6F76AF-4FA4-E750-73FA-4EB9A29559B2}"/>
              </a:ext>
            </a:extLst>
          </p:cNvPr>
          <p:cNvSpPr txBox="1"/>
          <p:nvPr/>
        </p:nvSpPr>
        <p:spPr>
          <a:xfrm>
            <a:off x="8522970" y="333970"/>
            <a:ext cx="343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Capstone3_Sample_Sales.xlsx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06631-B09D-EA1B-B1C6-A9D9CA14704E}"/>
              </a:ext>
            </a:extLst>
          </p:cNvPr>
          <p:cNvSpPr txBox="1"/>
          <p:nvPr/>
        </p:nvSpPr>
        <p:spPr>
          <a:xfrm>
            <a:off x="1205229" y="337740"/>
            <a:ext cx="343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Products, Inventory Categories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2CC4C8-31E4-AA27-04B5-A978F09BB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362" y="906509"/>
            <a:ext cx="4177237" cy="2545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DDF337-C759-53E1-B7DF-91E51A2B3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1" y="906509"/>
            <a:ext cx="4280108" cy="2549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051DA4-6750-57FD-D30B-142351A63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64" y="910095"/>
            <a:ext cx="1326363" cy="25458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A922B3-7113-9A6F-236B-32C950100C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2" y="3924836"/>
            <a:ext cx="4280107" cy="23279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58657C-0AE2-8350-110C-C94C28478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64" y="3815918"/>
            <a:ext cx="1309465" cy="25458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B90445-7FBC-5F1B-1F51-CEAAF8F2D6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48"/>
          <a:stretch>
            <a:fillRect/>
          </a:stretch>
        </p:blipFill>
        <p:spPr>
          <a:xfrm>
            <a:off x="7464464" y="3873098"/>
            <a:ext cx="4177237" cy="23797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65389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C50530-C6E3-F959-A869-0CC97937A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" y="833023"/>
            <a:ext cx="3633500" cy="25959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1FD37-E673-9BA7-53DB-1287F5656E3E}"/>
              </a:ext>
            </a:extLst>
          </p:cNvPr>
          <p:cNvSpPr txBox="1"/>
          <p:nvPr/>
        </p:nvSpPr>
        <p:spPr>
          <a:xfrm>
            <a:off x="8522970" y="333970"/>
            <a:ext cx="343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Capstone3_Sample_Sales.xlsx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9CA40-287C-4C8E-7D4B-CA122C10EDB6}"/>
              </a:ext>
            </a:extLst>
          </p:cNvPr>
          <p:cNvSpPr txBox="1"/>
          <p:nvPr/>
        </p:nvSpPr>
        <p:spPr>
          <a:xfrm>
            <a:off x="1192529" y="333970"/>
            <a:ext cx="391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Locations, Shipper List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6AABB8-9333-F5EB-F006-10102676B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355" y="833023"/>
            <a:ext cx="1360932" cy="2595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153F02-D62E-AD1B-1A6D-7B1933308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544" y="833023"/>
            <a:ext cx="3137806" cy="2595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DD110C-5B1B-4A2C-3BB1-F76C7F500A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" y="3669567"/>
            <a:ext cx="3918928" cy="24740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06B664-5DB5-1A73-F3CA-8AB0E0E4D1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355" y="3669567"/>
            <a:ext cx="1357374" cy="25959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41A599C-A057-585B-E3E0-3F9EE48322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544" y="3669567"/>
            <a:ext cx="3439957" cy="25409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0078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C0C8A50-41D7-710D-CCFB-DCF489B7D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65" y="906142"/>
            <a:ext cx="3918929" cy="19384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09FD8-21BE-DD77-20B5-1FE5D1888998}"/>
              </a:ext>
            </a:extLst>
          </p:cNvPr>
          <p:cNvSpPr txBox="1"/>
          <p:nvPr/>
        </p:nvSpPr>
        <p:spPr>
          <a:xfrm>
            <a:off x="8522970" y="333970"/>
            <a:ext cx="3432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Capstone3_Sample_Sales.xlsx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BF689-AA08-BA88-AD8C-FAAA7A1F1FA0}"/>
              </a:ext>
            </a:extLst>
          </p:cNvPr>
          <p:cNvSpPr txBox="1"/>
          <p:nvPr/>
        </p:nvSpPr>
        <p:spPr>
          <a:xfrm>
            <a:off x="1217262" y="333970"/>
            <a:ext cx="391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Management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DBB55-DAF3-3A29-A042-C88A1CF40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65" y="3113868"/>
            <a:ext cx="3918929" cy="11157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FE2EF0-9545-C45C-D4C4-96D007630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65" y="4419431"/>
            <a:ext cx="3918929" cy="18631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AA3B48-6C3B-120E-E9B2-DED1D23C25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333" y="2801891"/>
            <a:ext cx="4206240" cy="12764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515C19-FEC9-C715-F6C1-F8F541669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990" y="1875665"/>
            <a:ext cx="1818020" cy="34753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4799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A33749-59FF-5602-6714-ABC11E9F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291084"/>
            <a:ext cx="5071110" cy="76644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D7960F"/>
                </a:solidFill>
                <a:latin typeface="Bahnschrift SemiBold" panose="020B0502040204020203" pitchFamily="34" charset="0"/>
                <a:ea typeface="+mn-ea"/>
                <a:cs typeface="+mn-cs"/>
              </a:rPr>
              <a:t>2- Building the Data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78510-6315-4A98-B505-2E0620659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6" y="1668154"/>
            <a:ext cx="5278432" cy="2128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3CFDCC-9CFC-CA27-4B88-6C3D80C8C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966" y="1701039"/>
            <a:ext cx="1701887" cy="186699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0C9A26E-738A-6778-1C2A-6746D74EAF18}"/>
              </a:ext>
            </a:extLst>
          </p:cNvPr>
          <p:cNvGrpSpPr/>
          <p:nvPr/>
        </p:nvGrpSpPr>
        <p:grpSpPr>
          <a:xfrm>
            <a:off x="8605154" y="1908810"/>
            <a:ext cx="3367910" cy="1440180"/>
            <a:chOff x="8605154" y="1908810"/>
            <a:chExt cx="3367910" cy="144018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0ABC5CA-A384-2B80-4E6F-5712C3716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154" y="2086587"/>
              <a:ext cx="3350993" cy="31467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766616-5985-9D3C-4F6E-5461684D8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659" b="250"/>
            <a:stretch>
              <a:fillRect/>
            </a:stretch>
          </p:blipFill>
          <p:spPr>
            <a:xfrm>
              <a:off x="8605154" y="2566685"/>
              <a:ext cx="3179176" cy="26706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7F2DA36-B27E-3B2D-5DAF-B58E6E604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5154" y="2999172"/>
              <a:ext cx="3275609" cy="26706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6D1646-4D52-4A55-11C2-AB45F7EB14DF}"/>
                </a:ext>
              </a:extLst>
            </p:cNvPr>
            <p:cNvSpPr/>
            <p:nvPr/>
          </p:nvSpPr>
          <p:spPr>
            <a:xfrm>
              <a:off x="11612880" y="1908810"/>
              <a:ext cx="360184" cy="1440180"/>
            </a:xfrm>
            <a:prstGeom prst="rect">
              <a:avLst/>
            </a:prstGeom>
            <a:solidFill>
              <a:srgbClr val="E0E2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1F1A4C-5F1B-E83F-ED69-25B2591408AF}"/>
              </a:ext>
            </a:extLst>
          </p:cNvPr>
          <p:cNvSpPr txBox="1"/>
          <p:nvPr/>
        </p:nvSpPr>
        <p:spPr>
          <a:xfrm>
            <a:off x="977900" y="1254833"/>
            <a:ext cx="376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Date / Calendar 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BBBDC-2AFB-2242-85AE-87BC7FF572CD}"/>
              </a:ext>
            </a:extLst>
          </p:cNvPr>
          <p:cNvSpPr txBox="1"/>
          <p:nvPr/>
        </p:nvSpPr>
        <p:spPr>
          <a:xfrm>
            <a:off x="6641736" y="1274557"/>
            <a:ext cx="335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explicit DAX measures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D7D405-A30B-2FD3-E7BC-A2E3CD9EBD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580" y="4392383"/>
            <a:ext cx="4610839" cy="2134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CE9011D-F12B-F6FF-77E8-BB0C9A4B1D09}"/>
              </a:ext>
            </a:extLst>
          </p:cNvPr>
          <p:cNvSpPr txBox="1"/>
          <p:nvPr/>
        </p:nvSpPr>
        <p:spPr>
          <a:xfrm>
            <a:off x="3699140" y="4002090"/>
            <a:ext cx="490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table relationships in Model View</a:t>
            </a:r>
          </a:p>
        </p:txBody>
      </p:sp>
    </p:spTree>
    <p:extLst>
      <p:ext uri="{BB962C8B-B14F-4D97-AF65-F5344CB8AC3E}">
        <p14:creationId xmlns:p14="http://schemas.microsoft.com/office/powerpoint/2010/main" val="2561852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C6038C-9798-E95C-5ED3-815453CE1F51}"/>
              </a:ext>
            </a:extLst>
          </p:cNvPr>
          <p:cNvSpPr txBox="1"/>
          <p:nvPr/>
        </p:nvSpPr>
        <p:spPr>
          <a:xfrm>
            <a:off x="1435100" y="8821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3175" cmpd="sng">
                  <a:noFill/>
                </a:ln>
                <a:solidFill>
                  <a:srgbClr val="D7960F"/>
                </a:solidFill>
                <a:latin typeface="Bahnschrift SemiBold" panose="020B0502040204020203" pitchFamily="34" charset="0"/>
              </a:rPr>
              <a:t>Challenges and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E22D1-7A5A-F61D-F1D1-6D4D6F7D168F}"/>
              </a:ext>
            </a:extLst>
          </p:cNvPr>
          <p:cNvSpPr txBox="1"/>
          <p:nvPr/>
        </p:nvSpPr>
        <p:spPr>
          <a:xfrm>
            <a:off x="1435100" y="1879600"/>
            <a:ext cx="110617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Cleaning and transforming inconsistent raw data from multiple sources 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What I Learned: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cleaning and modeling are important steps before creating visualizations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good data model improves report accuracy and performance </a:t>
            </a:r>
          </a:p>
          <a:p>
            <a:pPr>
              <a:spcBef>
                <a:spcPts val="1200"/>
              </a:spcBef>
            </a:pPr>
            <a:r>
              <a:rPr lang="en-US" sz="2400" b="1" dirty="0"/>
              <a:t>Future Improvements: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more interactive filters and drill-through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more detailed analysis of customer and product performance</a:t>
            </a:r>
          </a:p>
        </p:txBody>
      </p:sp>
    </p:spTree>
    <p:extLst>
      <p:ext uri="{BB962C8B-B14F-4D97-AF65-F5344CB8AC3E}">
        <p14:creationId xmlns:p14="http://schemas.microsoft.com/office/powerpoint/2010/main" val="2867300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65323B-4804-E346-5716-96E8BF51AB9A}"/>
              </a:ext>
            </a:extLst>
          </p:cNvPr>
          <p:cNvSpPr txBox="1"/>
          <p:nvPr/>
        </p:nvSpPr>
        <p:spPr>
          <a:xfrm>
            <a:off x="1546543" y="468114"/>
            <a:ext cx="32261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D7960F"/>
                </a:solidFill>
                <a:latin typeface="Bahnschrift SemiBold" panose="020B0502040204020203" pitchFamily="34" charset="0"/>
              </a:rPr>
              <a:t>GitHub Repository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C9804-7F49-F2A0-3E66-0FCC571E9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323" y="1183200"/>
            <a:ext cx="8239354" cy="5116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8921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D77FB1-49EF-39C9-3306-A69E3892D85A}"/>
              </a:ext>
            </a:extLst>
          </p:cNvPr>
          <p:cNvSpPr txBox="1"/>
          <p:nvPr/>
        </p:nvSpPr>
        <p:spPr>
          <a:xfrm>
            <a:off x="3887724" y="1293631"/>
            <a:ext cx="4416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EB8F22"/>
                </a:solidFill>
                <a:effectLst/>
                <a:uLnTx/>
                <a:uFillTx/>
                <a:latin typeface="Bahnschrift SemiBold" panose="020B0502040204020203" pitchFamily="34" charset="0"/>
                <a:ea typeface="+mn-ea"/>
                <a:cs typeface="+mn-cs"/>
              </a:rPr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069EC-2936-49E3-A52F-F05994A01295}"/>
              </a:ext>
            </a:extLst>
          </p:cNvPr>
          <p:cNvSpPr txBox="1"/>
          <p:nvPr/>
        </p:nvSpPr>
        <p:spPr>
          <a:xfrm>
            <a:off x="3714273" y="3134457"/>
            <a:ext cx="4763452" cy="523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99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a typeface="Montserrat Bold"/>
                <a:cs typeface="Montserrat Bold"/>
                <a:sym typeface="Montserrat Bold"/>
              </a:rPr>
              <a:t>dkabakibi@my.yearupunited.org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830BE6-FF0A-710B-EAEC-66865352A8F6}"/>
              </a:ext>
            </a:extLst>
          </p:cNvPr>
          <p:cNvSpPr txBox="1"/>
          <p:nvPr/>
        </p:nvSpPr>
        <p:spPr>
          <a:xfrm>
            <a:off x="2649377" y="3955576"/>
            <a:ext cx="7198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8399B"/>
                </a:solidFill>
                <a:hlinkClick r:id="rId2"/>
              </a:rPr>
              <a:t>https://github.com/dania-kabakibi/Capstone_3.git</a:t>
            </a:r>
            <a:endParaRPr lang="en-US" sz="2400" b="1" dirty="0">
              <a:solidFill>
                <a:srgbClr val="08399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8D17A-B9C8-9ABB-67FA-514B493FC482}"/>
              </a:ext>
            </a:extLst>
          </p:cNvPr>
          <p:cNvSpPr txBox="1"/>
          <p:nvPr/>
        </p:nvSpPr>
        <p:spPr>
          <a:xfrm>
            <a:off x="5168898" y="4714562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B8F22"/>
                </a:solidFill>
                <a:hlinkClick r:id="rId3"/>
              </a:rPr>
              <a:t>Report’s link</a:t>
            </a:r>
            <a:endParaRPr lang="en-US" sz="2400" b="1" dirty="0">
              <a:solidFill>
                <a:srgbClr val="EB8F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486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244</Words>
  <Application>Microsoft Office PowerPoint</Application>
  <PresentationFormat>Widescreen</PresentationFormat>
  <Paragraphs>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Bahnschrift SemiBold</vt:lpstr>
      <vt:lpstr>Corbel</vt:lpstr>
      <vt:lpstr>Montserrat Bold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1- Data cleaning using Power query editor</vt:lpstr>
      <vt:lpstr>PowerPoint Presentation</vt:lpstr>
      <vt:lpstr>PowerPoint Presentation</vt:lpstr>
      <vt:lpstr>PowerPoint Presentation</vt:lpstr>
      <vt:lpstr>PowerPoint Presentation</vt:lpstr>
      <vt:lpstr>2- Building the Data Model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dania kabakibi</dc:creator>
  <cp:lastModifiedBy>dania kabakibi</cp:lastModifiedBy>
  <cp:revision>13</cp:revision>
  <dcterms:created xsi:type="dcterms:W3CDTF">2026-06-25T00:57:36Z</dcterms:created>
  <dcterms:modified xsi:type="dcterms:W3CDTF">2026-06-25T22:41:34Z</dcterms:modified>
</cp:coreProperties>
</file>